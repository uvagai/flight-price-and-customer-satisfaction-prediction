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72" r:id="rId6"/>
    <p:sldId id="259" r:id="rId7"/>
    <p:sldId id="260" r:id="rId8"/>
    <p:sldId id="261" r:id="rId9"/>
    <p:sldId id="262" r:id="rId10"/>
    <p:sldId id="273" r:id="rId11"/>
    <p:sldId id="274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Flight Price &amp; Customer Satisfaction Prediction using 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Deployment using Streamlit and MLflow</a:t>
            </a:r>
          </a:p>
          <a:p>
            <a:r>
              <a:t>Presented by: Uvagai</a:t>
            </a:r>
          </a:p>
          <a:p>
            <a:r>
              <a:t>Date: July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Project 1: Flight Price Prediction (Regression)</a:t>
            </a:r>
          </a:p>
          <a:p>
            <a:pPr marL="0" indent="0">
              <a:buNone/>
            </a:pPr>
            <a:r>
              <a:t>• Project 2: Customer Satisfaction Prediction (Classification)</a:t>
            </a:r>
          </a:p>
          <a:p>
            <a:pPr marL="0" indent="0">
              <a:buNone/>
            </a:pPr>
            <a:r>
              <a:t>• Tools: Python, Streamlit, MLflow, Scikit-learn</a:t>
            </a:r>
          </a:p>
          <a:p>
            <a:pPr marL="0" indent="0">
              <a:buNone/>
            </a:pPr>
            <a:r>
              <a:t>• Goal: Build ML models and deploy in a unified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17"/>
            <a:ext cx="8229600" cy="1143000"/>
          </a:xfrm>
        </p:spPr>
        <p:txBody>
          <a:bodyPr/>
          <a:lstStyle/>
          <a:p>
            <a:r>
              <a:t>Business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985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Flight Price Prediction:</a:t>
            </a:r>
          </a:p>
          <a:p>
            <a:pPr marL="0" indent="0">
              <a:buNone/>
            </a:pPr>
            <a:r>
              <a:t>• Help travelers estimate costs and plan bookings</a:t>
            </a:r>
          </a:p>
          <a:p>
            <a:pPr marL="0" indent="0">
              <a:buNone/>
            </a:pPr>
            <a:r>
              <a:t>• Support agencies with price optimization</a:t>
            </a:r>
          </a:p>
          <a:p>
            <a:pPr marL="0" indent="0">
              <a:buNone/>
            </a:pPr>
            <a:r>
              <a:t>• Aid corporate travel budgeting</a:t>
            </a:r>
          </a:p>
          <a:p>
            <a:pPr marL="0" indent="0">
              <a:buNone/>
            </a:pPr>
            <a:r>
              <a:t>• Enable airlines to identify trends and demand</a:t>
            </a:r>
          </a:p>
          <a:p>
            <a:pPr marL="0" indent="0">
              <a:buNone/>
            </a:pPr>
          </a:p>
          <a:p>
            <a:pPr marL="0" indent="0">
              <a:buNone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>
                <a:sym typeface="+mn-ea"/>
              </a:rPr>
              <a:t>Customer Satisfaction Prediction: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• Identify dissatisfied passengers for follow-up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• Improve services using customer feedback insights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• Support marketing campaigns for loyalty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• Assist management in boosting retention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6533"/>
            <a:ext cx="8229600" cy="1143000"/>
          </a:xfrm>
        </p:spPr>
        <p:txBody>
          <a:bodyPr/>
          <a:lstStyle/>
          <a:p>
            <a: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5860"/>
            <a:ext cx="8432165" cy="5692775"/>
          </a:xfrm>
        </p:spPr>
        <p:txBody>
          <a:bodyPr/>
          <a:lstStyle/>
          <a:p>
            <a:pPr marL="0" indent="0">
              <a:buNone/>
            </a:pPr>
            <a:r>
              <a:t>Flight_Price.csv:</a:t>
            </a:r>
          </a:p>
          <a:p>
            <a:pPr marL="0" indent="0">
              <a:buNone/>
            </a:pPr>
            <a:r>
              <a:t>• Airline, Date, Source, Destination, Duration, Stops</a:t>
            </a:r>
          </a:p>
          <a:p>
            <a:pPr marL="0" indent="0">
              <a:buNone/>
            </a:pPr>
            <a:r>
              <a:t>• Target: Flight Price</a:t>
            </a:r>
          </a:p>
          <a:p/>
          <a:p>
            <a:pPr marL="0" indent="0">
              <a:buNone/>
            </a:pPr>
            <a:r>
              <a:t>Passenger_Satisfaction.csv:</a:t>
            </a:r>
          </a:p>
          <a:p>
            <a:pPr marL="0" indent="0">
              <a:buNone/>
            </a:pPr>
            <a:r>
              <a:t>• Age, Gender, Customer Type, Ratings, Delay Info</a:t>
            </a:r>
          </a:p>
          <a:p>
            <a:pPr marL="0" indent="0">
              <a:buNone/>
            </a:pPr>
            <a:r>
              <a:t>• Target: Satisfaction Level (Satisfied / Dissatisfied)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Removed missing and duplicate values</a:t>
            </a:r>
          </a:p>
          <a:p>
            <a:pPr marL="0" indent="0">
              <a:buNone/>
            </a:pPr>
            <a:r>
              <a:t>• Converted date/time formats</a:t>
            </a:r>
          </a:p>
          <a:p>
            <a:pPr marL="0" indent="0">
              <a:buNone/>
            </a:pPr>
            <a:r>
              <a:t>• Encoded categorical variables</a:t>
            </a:r>
          </a:p>
          <a:p>
            <a:pPr marL="0" indent="0">
              <a:buNone/>
            </a:pPr>
            <a:r>
              <a:t>• Engineered features (e.g., flight duration, departure hour)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Flight Price EDA:</a:t>
            </a:r>
          </a:p>
          <a:p>
            <a:pPr marL="0" indent="0">
              <a:buNone/>
            </a:pPr>
            <a:r>
              <a:t>• Airline-based trends, correlation heatmap</a:t>
            </a:r>
          </a:p>
          <a:p/>
          <a:p>
            <a:pPr marL="0" indent="0">
              <a:buNone/>
            </a:pPr>
            <a:r>
              <a:t>Customer Satisfaction EDA:</a:t>
            </a:r>
          </a:p>
          <a:p>
            <a:pPr marL="0" indent="0">
              <a:buNone/>
            </a:pPr>
            <a:r>
              <a:t>• Feature importance, satisfaction distribution</a:t>
            </a:r>
          </a:p>
          <a:p/>
          <a:p>
            <a:r>
              <a:t>Tools: Pandas, Seaborn, Matplotlib, Plotly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45475" cy="5094605"/>
          </a:xfrm>
        </p:spPr>
        <p:txBody>
          <a:bodyPr/>
          <a:lstStyle/>
          <a:p>
            <a:pPr marL="0" indent="0">
              <a:buNone/>
            </a:pPr>
            <a:r>
              <a:t>Flight Price Prediction:</a:t>
            </a:r>
          </a:p>
          <a:p>
            <a:pPr marL="0" indent="0">
              <a:buNone/>
            </a:pPr>
            <a:r>
              <a:t>• Models: Linear Regression, Random Forest, XGBoost</a:t>
            </a:r>
          </a:p>
          <a:p>
            <a:pPr marL="0" indent="0">
              <a:buNone/>
            </a:pPr>
            <a:r>
              <a:t>• Best Model: Random Forest Regressor</a:t>
            </a:r>
          </a:p>
          <a:p/>
          <a:p>
            <a:pPr marL="0" indent="0">
              <a:buNone/>
            </a:pPr>
            <a:r>
              <a:t>Customer Satisfaction Prediction:</a:t>
            </a:r>
          </a:p>
          <a:p>
            <a:pPr marL="0" indent="0">
              <a:buNone/>
            </a:pPr>
            <a:r>
              <a:t>• Models: Logistic Regression, Random Forest, Gradient Boosting</a:t>
            </a:r>
          </a:p>
          <a:p>
            <a:pPr marL="0" indent="0">
              <a:buNone/>
            </a:pPr>
            <a:r>
              <a:t>• Best Model: Gradient Boosting Classifier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579120"/>
          </a:xfrm>
        </p:spPr>
        <p:txBody>
          <a:bodyPr>
            <a:normAutofit fontScale="90000"/>
          </a:bodyPr>
          <a:p>
            <a:r>
              <a:rPr lang="en-IN" altLang="en-US"/>
              <a:t>Algorithm used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2675"/>
            <a:ext cx="8229600" cy="5568950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>
                <a:latin typeface="+mn-ea"/>
                <a:cs typeface="+mn-ea"/>
              </a:rPr>
              <a:t>Linear Regression</a:t>
            </a:r>
            <a:endParaRPr lang="en-US" altLang="en-US">
              <a:latin typeface="+mn-ea"/>
              <a:cs typeface="+mn-ea"/>
            </a:endParaRPr>
          </a:p>
          <a:p>
            <a:pPr marL="0" indent="0">
              <a:buNone/>
            </a:pPr>
            <a:r>
              <a:rPr lang="en-US" altLang="en-US">
                <a:latin typeface="+mn-ea"/>
                <a:cs typeface="+mn-ea"/>
              </a:rPr>
              <a:t>→ Predicts a continuous value by fitting a straight line to the data.</a:t>
            </a:r>
            <a:endParaRPr lang="en-US" altLang="en-US">
              <a:latin typeface="+mn-ea"/>
              <a:cs typeface="+mn-ea"/>
            </a:endParaRPr>
          </a:p>
          <a:p>
            <a:pPr marL="0" indent="0">
              <a:buNone/>
            </a:pPr>
            <a:endParaRPr lang="en-US" altLang="en-US">
              <a:latin typeface="+mn-ea"/>
              <a:cs typeface="+mn-ea"/>
            </a:endParaRPr>
          </a:p>
          <a:p>
            <a:pPr marL="0" indent="0">
              <a:buNone/>
            </a:pPr>
            <a:r>
              <a:rPr lang="en-US" altLang="en-US">
                <a:latin typeface="+mn-ea"/>
                <a:cs typeface="+mn-ea"/>
              </a:rPr>
              <a:t>Decision Tree Regressor</a:t>
            </a:r>
            <a:endParaRPr lang="en-US" altLang="en-US">
              <a:latin typeface="+mn-ea"/>
              <a:cs typeface="+mn-ea"/>
            </a:endParaRPr>
          </a:p>
          <a:p>
            <a:pPr marL="0" indent="0">
              <a:buNone/>
            </a:pPr>
            <a:r>
              <a:rPr lang="en-US" altLang="en-US">
                <a:latin typeface="+mn-ea"/>
                <a:cs typeface="+mn-ea"/>
              </a:rPr>
              <a:t>→ Predicts continuous values by splitting data into regions using decision rules.</a:t>
            </a:r>
            <a:endParaRPr lang="en-US" altLang="en-US">
              <a:latin typeface="+mn-ea"/>
              <a:cs typeface="+mn-ea"/>
            </a:endParaRPr>
          </a:p>
          <a:p>
            <a:pPr marL="0" indent="0">
              <a:buNone/>
            </a:pPr>
            <a:endParaRPr lang="en-US" altLang="en-US">
              <a:latin typeface="+mn-ea"/>
              <a:cs typeface="+mn-ea"/>
            </a:endParaRPr>
          </a:p>
          <a:p>
            <a:pPr marL="0" indent="0">
              <a:buNone/>
            </a:pPr>
            <a:r>
              <a:rPr lang="en-US" altLang="en-US">
                <a:latin typeface="+mn-ea"/>
                <a:cs typeface="+mn-ea"/>
              </a:rPr>
              <a:t>Random Forest Regressor</a:t>
            </a:r>
            <a:endParaRPr lang="en-US" altLang="en-US">
              <a:latin typeface="+mn-ea"/>
              <a:cs typeface="+mn-ea"/>
            </a:endParaRPr>
          </a:p>
          <a:p>
            <a:pPr marL="0" indent="0">
              <a:buNone/>
            </a:pPr>
            <a:r>
              <a:rPr lang="en-US" altLang="en-US">
                <a:latin typeface="+mn-ea"/>
                <a:cs typeface="+mn-ea"/>
              </a:rPr>
              <a:t>→ Uses multiple decision trees to predict an average continuous value.</a:t>
            </a:r>
            <a:endParaRPr lang="en-US" altLang="en-US">
              <a:latin typeface="+mn-ea"/>
              <a:cs typeface="+mn-ea"/>
            </a:endParaRPr>
          </a:p>
          <a:p>
            <a:pPr marL="0" indent="0">
              <a:buNone/>
            </a:pPr>
            <a:endParaRPr lang="en-US" altLang="en-US">
              <a:latin typeface="+mn-ea"/>
              <a:cs typeface="+mn-ea"/>
            </a:endParaRPr>
          </a:p>
          <a:p>
            <a:pPr marL="0" indent="0">
              <a:buNone/>
            </a:pPr>
            <a:r>
              <a:rPr lang="en-US" altLang="en-US">
                <a:latin typeface="+mn-ea"/>
                <a:cs typeface="+mn-ea"/>
              </a:rPr>
              <a:t>XGBoost Regressor</a:t>
            </a:r>
            <a:endParaRPr lang="en-US" altLang="en-US">
              <a:latin typeface="+mn-ea"/>
              <a:cs typeface="+mn-ea"/>
            </a:endParaRPr>
          </a:p>
          <a:p>
            <a:pPr marL="0" indent="0">
              <a:buNone/>
            </a:pPr>
            <a:r>
              <a:rPr lang="en-US" altLang="en-US">
                <a:latin typeface="+mn-ea"/>
                <a:cs typeface="+mn-ea"/>
              </a:rPr>
              <a:t>→ Predicts numeric values using a series of boosted decision trees for higher accuracy.</a:t>
            </a:r>
            <a:endParaRPr lang="en-US" altLang="en-US">
              <a:latin typeface="+mn-ea"/>
              <a:cs typeface="+mn-ea"/>
            </a:endParaRPr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515620"/>
          </a:xfrm>
        </p:spPr>
        <p:txBody>
          <a:bodyPr>
            <a:normAutofit fontScale="90000"/>
          </a:bodyPr>
          <a:p>
            <a:r>
              <a:rPr lang="en-IN" altLang="en-US"/>
              <a:t>Algorithm Used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8360"/>
            <a:ext cx="8229600" cy="5701030"/>
          </a:xfrm>
        </p:spPr>
        <p:txBody>
          <a:bodyPr>
            <a:noAutofit/>
          </a:bodyPr>
          <a:p>
            <a:r>
              <a:rPr lang="en-US" altLang="en-US" sz="2400"/>
              <a:t>Logistic Regression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→ Predicts the probability of a class using a logistic (sigmoid) function.</a:t>
            </a:r>
            <a:endParaRPr lang="en-US" altLang="en-US" sz="2400"/>
          </a:p>
          <a:p>
            <a:r>
              <a:rPr lang="en-US" altLang="en-US" sz="2400"/>
              <a:t>Decision Tree Classifier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→ Classifies data by splitting it based on feature conditions in a tree structure.</a:t>
            </a:r>
            <a:endParaRPr lang="en-US" altLang="en-US" sz="2400"/>
          </a:p>
          <a:p>
            <a:r>
              <a:rPr lang="en-US" altLang="en-US" sz="2400"/>
              <a:t>Random Forest Classifier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→ Combines multiple decision trees to vote on the most likely class.</a:t>
            </a:r>
            <a:endParaRPr lang="en-US" altLang="en-US" sz="2400"/>
          </a:p>
          <a:p>
            <a:r>
              <a:rPr lang="en-US" altLang="en-US" sz="2400"/>
              <a:t>XGBoost Classifier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→ Classifies data using optimized gradient-boosted decision trees for fast, accurate results.</a:t>
            </a:r>
            <a:endParaRPr lang="en-US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MLflow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Tracked: Models, Parameters, Metrics, Artifacts</a:t>
            </a:r>
          </a:p>
          <a:p>
            <a:pPr marL="0" indent="0">
              <a:buNone/>
            </a:pPr>
            <a:r>
              <a:t>• Flight Price Exp. ID: 255250791207787415</a:t>
            </a:r>
          </a:p>
          <a:p>
            <a:pPr marL="0" indent="0">
              <a:buNone/>
            </a:pPr>
            <a:r>
              <a:t>• Satisfaction Exp. ID: 151365011729759780</a:t>
            </a:r>
          </a:p>
          <a:p>
            <a:pPr marL="0" indent="0">
              <a:buNone/>
            </a:pPr>
            <a:r>
              <a:t>• Benefits: Reproducibility, Model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Unified multi-page app</a:t>
            </a:r>
          </a:p>
          <a:p>
            <a:pPr marL="0" indent="0">
              <a:buNone/>
            </a:pPr>
            <a:r>
              <a:t>• Interactive visualizations</a:t>
            </a:r>
          </a:p>
          <a:p>
            <a:pPr marL="0" indent="0">
              <a:buNone/>
            </a:pPr>
            <a:r>
              <a:t>• User input forms for predictions</a:t>
            </a:r>
          </a:p>
          <a:p>
            <a:pPr marL="0" indent="0">
              <a:buNone/>
            </a:pPr>
            <a:r>
              <a:t>• Tools: Streamlit, Pandas, Plotly, MLflow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– Page 1: Flight 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Inputs: Airline, Route, Time, Date</a:t>
            </a:r>
          </a:p>
          <a:p>
            <a:pPr marL="0" indent="0">
              <a:buNone/>
            </a:pPr>
            <a:r>
              <a:t>• Output: Predicted Flight Price</a:t>
            </a:r>
          </a:p>
          <a:p>
            <a:pPr marL="0" indent="0">
              <a:buNone/>
            </a:pPr>
            <a:r>
              <a:t>• Visualization: Airline-wise trends, price comparisons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– Page 2: Customer Satisfaction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Inputs: Age, Ratings, Class, Delay Info</a:t>
            </a:r>
          </a:p>
          <a:p>
            <a:pPr marL="0" indent="0">
              <a:buNone/>
            </a:pPr>
            <a:r>
              <a:t>• Output: Satisfaction Prediction (Satisfied/Dissatisfied)</a:t>
            </a:r>
          </a:p>
          <a:p>
            <a:pPr marL="0" indent="0">
              <a:buNone/>
            </a:pPr>
            <a:r>
              <a:t>• Visualization: Feature impact, satisfaction breakdown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Flight Price Prediction:</a:t>
            </a:r>
          </a:p>
          <a:p>
            <a:pPr marL="0" indent="0">
              <a:buNone/>
            </a:pPr>
            <a:r>
              <a:t>• RMSE: XX | R²: YY</a:t>
            </a:r>
          </a:p>
          <a:p/>
          <a:p>
            <a:pPr marL="0" indent="0">
              <a:buNone/>
            </a:pPr>
            <a:r>
              <a:t>Customer Satisfaction Prediction:</a:t>
            </a:r>
          </a:p>
          <a:p>
            <a:pPr marL="0" indent="0">
              <a:buNone/>
            </a:pPr>
            <a:r>
              <a:t>• Accuracy: XX% | F1-Score: YY</a:t>
            </a:r>
          </a:p>
          <a:p/>
          <a:p>
            <a:pPr marL="0" indent="0">
              <a:buNone/>
            </a:pPr>
            <a:r>
              <a:t>Streamlit App deployed with MLflow tracking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End-to-end ML pipeline execution</a:t>
            </a:r>
          </a:p>
          <a:p>
            <a:pPr marL="0" indent="0">
              <a:buNone/>
            </a:pPr>
            <a:r>
              <a:t>• Model tracking with MLflow</a:t>
            </a:r>
          </a:p>
          <a:p>
            <a:pPr marL="0" indent="0">
              <a:buNone/>
            </a:pPr>
            <a:r>
              <a:t>• App development using Streamlit</a:t>
            </a:r>
          </a:p>
          <a:p>
            <a:pPr marL="0" indent="0">
              <a:buNone/>
            </a:pPr>
            <a:r>
              <a:t>• Improved EDA and ML model building skills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Encoding complex categorical data → Used domain knowledge</a:t>
            </a:r>
          </a:p>
          <a:p>
            <a:pPr marL="0" indent="0">
              <a:buNone/>
            </a:pPr>
            <a:r>
              <a:t>• Managing two models in one app → Used Streamlit multipage</a:t>
            </a:r>
          </a:p>
          <a:p>
            <a:pPr marL="0" indent="0">
              <a:buNone/>
            </a:pPr>
            <a:r>
              <a:t>• Tracking experiments → MLflow registry management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Project Orientation Videos</a:t>
            </a:r>
          </a:p>
          <a:p>
            <a:pPr marL="0" indent="0">
              <a:buNone/>
            </a:pPr>
            <a:r>
              <a:t>• Streamlit and MLflow Documentation</a:t>
            </a:r>
          </a:p>
          <a:p>
            <a:pPr marL="0" indent="0">
              <a:buNone/>
            </a:pPr>
            <a:r>
              <a:t>• Capstone Guide, EDA Guide</a:t>
            </a:r>
          </a:p>
          <a:p>
            <a:pPr marL="0" indent="0">
              <a:buNone/>
            </a:pPr>
            <a:r>
              <a:t>• GitHub Resources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985" y="2512378"/>
            <a:ext cx="8229600" cy="1143000"/>
          </a:xfrm>
        </p:spPr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3809</Words>
  <Application>WPS Presentation</Application>
  <PresentationFormat>On-screen Show (4:3)</PresentationFormat>
  <Paragraphs>152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Flight Price &amp; Customer Satisfaction Prediction using ML</vt:lpstr>
      <vt:lpstr>Project Overview</vt:lpstr>
      <vt:lpstr>Business Objectives</vt:lpstr>
      <vt:lpstr>PowerPoint 演示文稿</vt:lpstr>
      <vt:lpstr>Dataset Summary</vt:lpstr>
      <vt:lpstr>Data Preprocessing</vt:lpstr>
      <vt:lpstr>Exploratory Data Analysis</vt:lpstr>
      <vt:lpstr>Model Building</vt:lpstr>
      <vt:lpstr>PowerPoint 演示文稿</vt:lpstr>
      <vt:lpstr>PowerPoint 演示文稿</vt:lpstr>
      <vt:lpstr>MLflow Integration</vt:lpstr>
      <vt:lpstr>Streamlit App</vt:lpstr>
      <vt:lpstr>Streamlit – Page 1: Flight Price</vt:lpstr>
      <vt:lpstr>Streamlit – Page 2: Customer Satisfaction</vt:lpstr>
      <vt:lpstr>Project Results</vt:lpstr>
      <vt:lpstr>Key Learnings</vt:lpstr>
      <vt:lpstr>Challenges &amp; Solutions</vt:lpstr>
      <vt:lpstr>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Uvagai Erumporai</cp:lastModifiedBy>
  <cp:revision>4</cp:revision>
  <dcterms:created xsi:type="dcterms:W3CDTF">2013-01-27T09:14:00Z</dcterms:created>
  <dcterms:modified xsi:type="dcterms:W3CDTF">2025-07-31T10:55:37Z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B510BAC1878F4044A55958ED9C168C40_12</vt:lpwstr>
  </property>
  <property fmtid="{D5CDD505-2E9C-101B-9397-08002B2CF9AE}" pid="3" name="KSOProductBuildVer">
    <vt:lpwstr>1033-12.2.0.21931</vt:lpwstr>
  </property>
</Properties>
</file>